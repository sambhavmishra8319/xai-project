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2.5%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25%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0.846</c:v>
                </c:pt>
                <c:pt idx="1">
                  <c:v>0.843</c:v>
                </c:pt>
                <c:pt idx="2">
                  <c:v>0.811</c:v>
                </c:pt>
                <c:pt idx="3">
                  <c:v>0.764</c:v>
                </c:pt>
                <c:pt idx="4">
                  <c:v>0.688</c:v>
                </c:pt>
                <c:pt idx="5">
                  <c:v>0.651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2.5%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25%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0.816</c:v>
                </c:pt>
                <c:pt idx="1">
                  <c:v>0.764</c:v>
                </c:pt>
                <c:pt idx="2">
                  <c:v>0.703</c:v>
                </c:pt>
                <c:pt idx="3">
                  <c:v>0.661</c:v>
                </c:pt>
                <c:pt idx="4">
                  <c:v>0.622</c:v>
                </c:pt>
                <c:pt idx="5">
                  <c:v>0.651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RUS</c:v>
                </c:pt>
              </c:strCache>
            </c:strRef>
          </c:tx>
          <c:spPr>
            <a:solidFill>
              <a:srgbClr val="F96167"/>
            </a:solidFill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2.5%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25%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0.88</c:v>
                </c:pt>
                <c:pt idx="1">
                  <c:v>0.827</c:v>
                </c:pt>
                <c:pt idx="2">
                  <c:v>0.803</c:v>
                </c:pt>
                <c:pt idx="3">
                  <c:v>0.773</c:v>
                </c:pt>
                <c:pt idx="4">
                  <c:v>0.705</c:v>
                </c:pt>
                <c:pt idx="5">
                  <c:v>0.635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SHAP CV by background type (lower = more stable)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CV at 1% Default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Minority-only</c:v>
                  </c:pt>
                  <c:pt idx="1">
                    <c:v>Balanced 50/50</c:v>
                  </c:pt>
                  <c:pt idx="2">
                    <c:v>Random subset</c:v>
                  </c:pt>
                  <c:pt idx="3">
                    <c:v>Full (baseline)</c:v>
                  </c:pt>
                  <c:pt idx="4">
                    <c:v>Majority-only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0.782</c:v>
                </c:pt>
                <c:pt idx="1">
                  <c:v>0.804</c:v>
                </c:pt>
                <c:pt idx="2">
                  <c:v>0.847</c:v>
                </c:pt>
                <c:pt idx="3">
                  <c:v>0.849</c:v>
                </c:pt>
                <c:pt idx="4">
                  <c:v>0.858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8"/>
          <c:min val="0.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 SHAP CV at 1% Default Rate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at 1% DR (higher = less stable)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9E79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E79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pay_4</c:v>
                  </c:pt>
                  <c:pt idx="1">
                    <c:v>pay_2</c:v>
                  </c:pt>
                  <c:pt idx="2">
                    <c:v>pay_0</c:v>
                  </c:pt>
                  <c:pt idx="3">
                    <c:v>pay_3</c:v>
                  </c:pt>
                  <c:pt idx="4">
                    <c:v>pay_5</c:v>
                  </c:pt>
                  <c:pt idx="5">
                    <c:v>pay_6</c:v>
                  </c:pt>
                  <c:pt idx="6">
                    <c:v>pay_amt5</c:v>
                  </c:pt>
                  <c:pt idx="7">
                    <c:v>pay_amt2</c:v>
                  </c:pt>
                  <c:pt idx="8">
                    <c:v>limit_bal</c:v>
                  </c:pt>
                  <c:pt idx="9">
                    <c:v>bill_amt1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1.712</c:v>
                </c:pt>
                <c:pt idx="1">
                  <c:v>1.558</c:v>
                </c:pt>
                <c:pt idx="2">
                  <c:v>1.412</c:v>
                </c:pt>
                <c:pt idx="3">
                  <c:v>1.43</c:v>
                </c:pt>
                <c:pt idx="4">
                  <c:v>1.366</c:v>
                </c:pt>
                <c:pt idx="5">
                  <c:v>1.366</c:v>
                </c:pt>
                <c:pt idx="6">
                  <c:v>1.088</c:v>
                </c:pt>
                <c:pt idx="7">
                  <c:v>1.049</c:v>
                </c:pt>
                <c:pt idx="8">
                  <c:v>0.807</c:v>
                </c:pt>
                <c:pt idx="9">
                  <c:v>0.803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DS357 Explainable AI — Phase 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Fix SHAP Instability Under Class Imbalance?  |  Taiwan Credit Dataset  |  XGBoost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Experiments · 5 Strategies · 12 Default Rates · 30 Iterations each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(EJOR 2024) — Replication &amp; Extension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original paper left open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potential effects of these imbalanced learning techniques on the performance of interpretation methods </a:t>
            </a:r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investigated in future research.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Chen, Calabrese &amp; Martin-Barragan (EJOR 2024), Section 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01168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strategies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907792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SMOTE/ADASYN/RUS/cost-sensitive XGBoost restore stability?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103120"/>
            <a:ext cx="201168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24871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 vs Non-defaulter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23744" y="2907792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rejected applicants get less stable explanations? (ECOA angle)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103120"/>
            <a:ext cx="2011680" cy="32004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24871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Background 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0016" y="2907792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changing what SHAP looks at — without resampling — fix instability?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2103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2103120"/>
            <a:ext cx="201168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24871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Heatmap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76288" y="2907792"/>
            <a:ext cx="1865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features become unreliable first?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Recap — Resampling Strategies vs SHAP Stability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SRA improvement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strategy at 1% DR. SRA drops 32.56→30.18. Still only partial fix.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86868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868680"/>
            <a:ext cx="1920240" cy="54864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332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68880" y="1618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CV improvement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18928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drops 0.846→0.816 at 1%. ADASYN virtually identical.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86868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868680"/>
            <a:ext cx="19202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0332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1618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makes it WORSE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18928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worsens 32.56→32.67. Removing majority class data hurts SHAP background.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86868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868680"/>
            <a:ext cx="1920240" cy="54864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0332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83680" y="1618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Cost-sensitive: negligible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18928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0.846→0.844. Adjusts loss function but not SHAP background data.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2697480"/>
          <a:ext cx="8595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27432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CV across default rates (lower = more stable)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 — Defaulter vs Non-Defaulter Stability Split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051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gap at 1% default rate: −0.011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3749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Non-defaulters are very slightly LESS stable than defaulters on CV. The gap is tiny and flips direction across default rates. Both classes are almost equally harmed.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54864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75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gap at 1%: +0.54 (defaulters worse on rankings)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68296"/>
            <a:ext cx="3749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show marginally less stable feature rankings (SRA 32.83 vs 32.29). Consistent but small across all strategies tested.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54864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18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 Class imbalance is an equal-opportunity problem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3749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expected defaulters to suffer more — they don't, substantially. SHAP instability is not concentrated in one class. This actually strengthens the regulatory argument.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25196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251960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61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ECOA/GDPR implication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54296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granted and rejected applicants receive unreliable explanations under extreme imbalance. Regulators should mandate stability testing for ALL predictions.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822960"/>
            <a:ext cx="4343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896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CV by class — Baseline strategy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02336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91440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Non-defaulters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 — SHAP Background Dataset: The Most Effective Fix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−8.2%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improvement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Minority-only background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full training 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1% default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274320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52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changes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145536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the shap.TreeExplainer data= argument. No resampling, no model retraining.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246120" y="822960"/>
          <a:ext cx="55778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3246120" y="329184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2900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background size: n=100 balanced (CV 0.795)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29000" y="370332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peaks at ~100 balanced samples then degrades — because at 1% DR, larger balanced backgrounds hit the 63-sample minority ceiling and become imbalanced again. Practical rule: use all available minority samples + equal majority samples as SHAP background.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shap.TreeExplainer(model, data=X_balanced_background, feature_perturbation='interventional')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E — Feature-Level SHAP Stability: What Breaks First?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777240"/>
            <a:ext cx="3611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257800" y="777240"/>
            <a:ext cx="54864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0680" y="8869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features: 2× more unstable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40680" y="1179576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pay_0 through pay_6 all exceed CV 1.3 at 1% DR — over 2× worse than bill_amt features. These are the most decision-critical features in credit scoring.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57800" y="1965960"/>
            <a:ext cx="3611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57800" y="1965960"/>
            <a:ext cx="54864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20756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amount features: most stable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40680" y="2368296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bill_amt1, bill_amt4, bill_amt6 stay below CV 0.92 even at 1% DR. Static continuous features are inherently more stable than categorical behavioural ones.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57800" y="3154680"/>
            <a:ext cx="3611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57800" y="3154680"/>
            <a:ext cx="54864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3264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payment features fail most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40680" y="3557016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(defaulters) have very different payment behaviour patterns. With only 63 defaults in training, SHAP cannot reliably estimate their marginal contribution.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FEF9EC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5537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implication: SHAP values for payment history — the features most used in credit decisions — are the LEAST trustworthy under real-world mortgage imbalance (&lt; 1%)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— Unified Findings Summary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0624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210312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vs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Resampling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SMOTE/ADASYN best resampling. RUS actively worsens SHAP. Cost-sensitive negligible.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SMOTE: −7.3% SRA, −3.5% CV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SMOTE if resampling is required. Never use RUS when XAI is in scope.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defaulters and non-defaulters suffer equally. No significant CV gap between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0.017 — effectively 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Regulators must require stability testing for ALL predictions, not just rejections.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Minority-only background reduces CV by 8.2%. Best improvement of any technique tested.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−8.2% CV, −2.9% SRA vs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minority-class-balanced subset as data= to shap.TreeExplainer. Zero training cost.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history (pay_0–pay_6) is 2× more unstable than bill amounts at 1% DR.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gap: 1.71 vs 0.80 between worst/best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SHAP values for payment features as unreliable below 5% default rate.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fix solves 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causes fundamental instability in Tree SHAP. Every technique tested — resampling, cost-weighting, and background modification — only partially mitigates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54864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39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fix is changing SHAP's 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Minority-only or balanced background dataset (n≈100) reduces instability by 8.2% with zero training cost — better than any resampling strategy. One line of code.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80944"/>
            <a:ext cx="54864" cy="77724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26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should be actively avoided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strategy that makes SHAP stability WORSE. Banks using random undersampling before XAI generation are producing less trustworthy explanations.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68496"/>
            <a:ext cx="54864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142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features are highest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decision-critical features (payment history) are the most SHAP-unstable under real mortgage imbalance levels. Regulators should specifically flag these.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Guide — Key Numbers to Memorise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32.56 → 30.18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8961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SRA improvement at 1% DR (7.3% better)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07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 → 0.816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3990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CV improvement at 1% DR (3.5% better)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836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 → 0.782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19019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Minority-only background CV at 1% DR (8.2% better — best of all)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865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32.67 vs 32.56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4048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vs baseline SRA at 1% — RUS is WORSE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95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pay_4 = 1.712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29077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CV feature at 1% DR — payment status April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19272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924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bill_amt1 = 0.803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4107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feature — static bill amount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953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gap ≈ 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39136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 vs non-defaulter gap — both equally harmed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25112"/>
            <a:ext cx="85953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982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n=100 balanced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34640" y="441655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background size for SHAP stability at 1% DR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DS357 XAI Phase 3 - Full Results</dc:title>
  <dc:subject>PptxGenJS Presentation</dc:subject>
  <dc:creator>PptxGenJS</dc:creator>
  <cp:lastModifiedBy>PptxGenJS</cp:lastModifiedBy>
  <cp:revision>1</cp:revision>
  <dcterms:created xsi:type="dcterms:W3CDTF">2026-04-09T05:44:32Z</dcterms:created>
  <dcterms:modified xsi:type="dcterms:W3CDTF">2026-04-09T05:44:32Z</dcterms:modified>
</cp:coreProperties>
</file>